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Semi-Bold" charset="1" panose="00000700000000000000"/>
      <p:regular r:id="rId13"/>
    </p:embeddedFont>
    <p:embeddedFont>
      <p:font typeface="Montserrat Medium" charset="1" panose="00000600000000000000"/>
      <p:regular r:id="rId14"/>
    </p:embeddedFont>
    <p:embeddedFont>
      <p:font typeface="Montserrat" charset="1" panose="00000500000000000000"/>
      <p:regular r:id="rId15"/>
    </p:embeddedFont>
    <p:embeddedFont>
      <p:font typeface="Norwester" charset="1" panose="00000506000000000000"/>
      <p:regular r:id="rId16"/>
    </p:embeddedFont>
    <p:embeddedFont>
      <p:font typeface="Canva Sans Bold" charset="1" panose="020B0803030501040103"/>
      <p:regular r:id="rId17"/>
    </p:embeddedFont>
    <p:embeddedFont>
      <p:font typeface="Canva Sans" charset="1" panose="020B0503030501040103"/>
      <p:regular r:id="rId18"/>
    </p:embeddedFont>
    <p:embeddedFont>
      <p:font typeface="Montserrat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jpe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1967" y="2126834"/>
            <a:ext cx="5021239" cy="8488286"/>
          </a:xfrm>
          <a:custGeom>
            <a:avLst/>
            <a:gdLst/>
            <a:ahLst/>
            <a:cxnLst/>
            <a:rect r="r" b="b" t="t" l="l"/>
            <a:pathLst>
              <a:path h="8488286" w="5021239">
                <a:moveTo>
                  <a:pt x="0" y="0"/>
                </a:moveTo>
                <a:lnTo>
                  <a:pt x="5021239" y="0"/>
                </a:lnTo>
                <a:lnTo>
                  <a:pt x="5021239" y="8488286"/>
                </a:lnTo>
                <a:lnTo>
                  <a:pt x="0" y="8488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1967" y="-444755"/>
            <a:ext cx="5021239" cy="3046174"/>
          </a:xfrm>
          <a:custGeom>
            <a:avLst/>
            <a:gdLst/>
            <a:ahLst/>
            <a:cxnLst/>
            <a:rect r="r" b="b" t="t" l="l"/>
            <a:pathLst>
              <a:path h="3046174" w="5021239">
                <a:moveTo>
                  <a:pt x="0" y="0"/>
                </a:moveTo>
                <a:lnTo>
                  <a:pt x="5021239" y="0"/>
                </a:lnTo>
                <a:lnTo>
                  <a:pt x="5021239" y="3046174"/>
                </a:lnTo>
                <a:lnTo>
                  <a:pt x="0" y="3046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8654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27315" y="-34654"/>
            <a:ext cx="4547985" cy="10321654"/>
            <a:chOff x="0" y="0"/>
            <a:chExt cx="704602" cy="15990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602" cy="1599094"/>
            </a:xfrm>
            <a:custGeom>
              <a:avLst/>
              <a:gdLst/>
              <a:ahLst/>
              <a:cxnLst/>
              <a:rect r="r" b="b" t="t" l="l"/>
              <a:pathLst>
                <a:path h="1599094" w="704602">
                  <a:moveTo>
                    <a:pt x="0" y="0"/>
                  </a:moveTo>
                  <a:lnTo>
                    <a:pt x="704602" y="0"/>
                  </a:lnTo>
                  <a:lnTo>
                    <a:pt x="704602" y="1599094"/>
                  </a:lnTo>
                  <a:lnTo>
                    <a:pt x="0" y="1599094"/>
                  </a:lnTo>
                  <a:close/>
                </a:path>
              </a:pathLst>
            </a:custGeom>
            <a:blipFill>
              <a:blip r:embed="rId3"/>
              <a:stretch>
                <a:fillRect l="-30182" t="0" r="-21024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036334" y="3665235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3347091" y="1482638"/>
            <a:ext cx="4248105" cy="8804362"/>
          </a:xfrm>
          <a:custGeom>
            <a:avLst/>
            <a:gdLst/>
            <a:ahLst/>
            <a:cxnLst/>
            <a:rect r="r" b="b" t="t" l="l"/>
            <a:pathLst>
              <a:path h="8804362" w="4248105">
                <a:moveTo>
                  <a:pt x="4248104" y="0"/>
                </a:moveTo>
                <a:lnTo>
                  <a:pt x="0" y="0"/>
                </a:lnTo>
                <a:lnTo>
                  <a:pt x="0" y="8804362"/>
                </a:lnTo>
                <a:lnTo>
                  <a:pt x="4248104" y="8804362"/>
                </a:lnTo>
                <a:lnTo>
                  <a:pt x="4248104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860691" y="7467035"/>
            <a:ext cx="5028984" cy="832727"/>
            <a:chOff x="0" y="0"/>
            <a:chExt cx="1324506" cy="2193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4506" cy="219319"/>
            </a:xfrm>
            <a:custGeom>
              <a:avLst/>
              <a:gdLst/>
              <a:ahLst/>
              <a:cxnLst/>
              <a:rect r="r" b="b" t="t" l="l"/>
              <a:pathLst>
                <a:path h="219319" w="1324506">
                  <a:moveTo>
                    <a:pt x="0" y="0"/>
                  </a:moveTo>
                  <a:lnTo>
                    <a:pt x="1324506" y="0"/>
                  </a:lnTo>
                  <a:lnTo>
                    <a:pt x="1324506" y="219319"/>
                  </a:lnTo>
                  <a:lnTo>
                    <a:pt x="0" y="219319"/>
                  </a:lnTo>
                  <a:close/>
                </a:path>
              </a:pathLst>
            </a:custGeom>
            <a:ln w="28575" cap="sq">
              <a:solidFill>
                <a:srgbClr val="014AA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47625"/>
              <a:ext cx="1324506" cy="171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7759" y="9601479"/>
            <a:ext cx="425585" cy="331956"/>
          </a:xfrm>
          <a:custGeom>
            <a:avLst/>
            <a:gdLst/>
            <a:ahLst/>
            <a:cxnLst/>
            <a:rect r="r" b="b" t="t" l="l"/>
            <a:pathLst>
              <a:path h="331956" w="425585">
                <a:moveTo>
                  <a:pt x="0" y="0"/>
                </a:moveTo>
                <a:lnTo>
                  <a:pt x="425586" y="0"/>
                </a:lnTo>
                <a:lnTo>
                  <a:pt x="425586" y="331956"/>
                </a:lnTo>
                <a:lnTo>
                  <a:pt x="0" y="3319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7454653" y="407558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7593793" y="496716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67759" y="4749721"/>
            <a:ext cx="496082" cy="4960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47625" cap="sq">
              <a:solidFill>
                <a:srgbClr val="014AAD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59651" y="4841613"/>
            <a:ext cx="312299" cy="31229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4A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505373" y="3937188"/>
            <a:ext cx="220855" cy="220855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1616">
                <a:alpha val="74902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549378" y="3074538"/>
            <a:ext cx="132845" cy="13284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1616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74684">
            <a:off x="514743" y="5838726"/>
            <a:ext cx="220855" cy="22085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1616">
                <a:alpha val="7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74684">
            <a:off x="539052" y="6789172"/>
            <a:ext cx="132845" cy="132845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81616">
                <a:alpha val="49804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90476" y="388508"/>
            <a:ext cx="450649" cy="450649"/>
          </a:xfrm>
          <a:custGeom>
            <a:avLst/>
            <a:gdLst/>
            <a:ahLst/>
            <a:cxnLst/>
            <a:rect r="r" b="b" t="t" l="l"/>
            <a:pathLst>
              <a:path h="450649" w="450649">
                <a:moveTo>
                  <a:pt x="0" y="0"/>
                </a:moveTo>
                <a:lnTo>
                  <a:pt x="450649" y="0"/>
                </a:lnTo>
                <a:lnTo>
                  <a:pt x="450649" y="450649"/>
                </a:lnTo>
                <a:lnTo>
                  <a:pt x="0" y="4506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899995" y="9669546"/>
            <a:ext cx="287207" cy="195823"/>
          </a:xfrm>
          <a:custGeom>
            <a:avLst/>
            <a:gdLst/>
            <a:ahLst/>
            <a:cxnLst/>
            <a:rect r="r" b="b" t="t" l="l"/>
            <a:pathLst>
              <a:path h="195823" w="287207">
                <a:moveTo>
                  <a:pt x="0" y="0"/>
                </a:moveTo>
                <a:lnTo>
                  <a:pt x="287207" y="0"/>
                </a:lnTo>
                <a:lnTo>
                  <a:pt x="287207" y="195823"/>
                </a:lnTo>
                <a:lnTo>
                  <a:pt x="0" y="195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true" flipV="false" rot="0">
            <a:off x="8320964" y="9669546"/>
            <a:ext cx="287207" cy="195823"/>
          </a:xfrm>
          <a:custGeom>
            <a:avLst/>
            <a:gdLst/>
            <a:ahLst/>
            <a:cxnLst/>
            <a:rect r="r" b="b" t="t" l="l"/>
            <a:pathLst>
              <a:path h="195823" w="287207">
                <a:moveTo>
                  <a:pt x="287208" y="0"/>
                </a:moveTo>
                <a:lnTo>
                  <a:pt x="0" y="0"/>
                </a:lnTo>
                <a:lnTo>
                  <a:pt x="0" y="195823"/>
                </a:lnTo>
                <a:lnTo>
                  <a:pt x="287208" y="195823"/>
                </a:lnTo>
                <a:lnTo>
                  <a:pt x="28720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7860691" y="6270918"/>
            <a:ext cx="8110553" cy="886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3400" b="true">
                <a:solidFill>
                  <a:srgbClr val="014AAD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Style-Invariant Multi-Task Triage of Post-C-Section Portal Messages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57752" y="426608"/>
            <a:ext cx="2311503" cy="29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</a:pPr>
            <a:r>
              <a:rPr lang="en-US" sz="2200" b="true">
                <a:solidFill>
                  <a:srgbClr val="18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Borcelle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788066" y="426608"/>
            <a:ext cx="1704888" cy="2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014AAD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36334" y="426608"/>
            <a:ext cx="1704888" cy="2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181616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284147" y="426608"/>
            <a:ext cx="1704888" cy="2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>
                <a:solidFill>
                  <a:srgbClr val="181616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17669" y="9639579"/>
            <a:ext cx="1704888" cy="293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00"/>
              </a:lnSpc>
            </a:pPr>
            <a:r>
              <a:rPr lang="en-US" sz="2200" b="true">
                <a:solidFill>
                  <a:srgbClr val="18161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May 2025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046427" y="2108493"/>
            <a:ext cx="12510854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PROJECT OVERVIEW &amp; </a:t>
            </a:r>
          </a:p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CLINICAL MOTIVATION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54653" y="548990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93793" y="638148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866794" y="2604950"/>
            <a:ext cx="0" cy="3205647"/>
          </a:xfrm>
          <a:prstGeom prst="line">
            <a:avLst/>
          </a:prstGeom>
          <a:ln cap="rnd" w="19050">
            <a:solidFill>
              <a:srgbClr val="112D4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729398" y="2326025"/>
            <a:ext cx="2558602" cy="3756316"/>
            <a:chOff x="0" y="0"/>
            <a:chExt cx="812800" cy="11932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193282"/>
            </a:xfrm>
            <a:custGeom>
              <a:avLst/>
              <a:gdLst/>
              <a:ahLst/>
              <a:cxnLst/>
              <a:rect r="r" b="b" t="t" l="l"/>
              <a:pathLst>
                <a:path h="119328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93282"/>
                  </a:lnTo>
                  <a:lnTo>
                    <a:pt x="0" y="1193282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3188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81766" y="1592600"/>
            <a:ext cx="12510854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PROJECT OVERVIEW &amp; CLINICAL MOTIVATION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036334" y="3665235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1401" y="3872897"/>
            <a:ext cx="676031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 spc="-2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 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ini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 P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obl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m:</a:t>
            </a:r>
            <a:r>
              <a:rPr lang="en-US" b="true" sz="2399" spc="-213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just" marL="0" indent="0" lvl="0">
              <a:lnSpc>
                <a:spcPts val="2879"/>
              </a:lnSpc>
            </a:pP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nchronou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tal me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ssa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 are the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mary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ommu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line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st-C-s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on,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uff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fro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ig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xie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y,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M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ica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teracy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nde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rst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dist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ort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risk sign</a:t>
            </a:r>
            <a:r>
              <a:rPr lang="en-US" sz="2399" spc="-2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401" y="6334170"/>
            <a:ext cx="4683464" cy="918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71"/>
              </a:lnSpc>
            </a:pPr>
            <a:r>
              <a:rPr lang="en-US" b="true" sz="2399" spc="-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HIPAA Wal</a:t>
            </a:r>
            <a:r>
              <a:rPr lang="en-US" b="true" sz="2399" spc="-31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</a:t>
            </a:r>
            <a:r>
              <a:rPr lang="en-US" b="true" sz="2399" spc="-31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just" marL="0" indent="0" lvl="0">
              <a:lnSpc>
                <a:spcPts val="2471"/>
              </a:lnSpc>
            </a:pP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is inaccessible due to PHI/privac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stricti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399" spc="-31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401" y="7828294"/>
            <a:ext cx="9662210" cy="1295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Objective:</a:t>
            </a:r>
            <a:r>
              <a:rPr lang="en-US" sz="2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 marL="0" indent="0" lvl="0">
              <a:lnSpc>
                <a:spcPts val="2423"/>
              </a:lnSpc>
            </a:pPr>
            <a:r>
              <a:rPr lang="en-US" sz="2399" spc="-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Developing a control</a:t>
            </a:r>
            <a:r>
              <a:rPr lang="en-US" sz="2399" spc="-1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led, attribute-conditioned synthetic data pipeline (N=3,000) to build a robust triage benchmark and evaluate style-invariance acr</a:t>
            </a:r>
            <a:r>
              <a:rPr lang="en-US" sz="2399" spc="-1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os</a:t>
            </a:r>
            <a:r>
              <a:rPr lang="en-US" sz="2399" spc="-1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clinical transformers and foundational LLMs.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54653" y="548990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93793" y="638148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40018" y="-14074"/>
            <a:ext cx="6047198" cy="10301074"/>
            <a:chOff x="0" y="0"/>
            <a:chExt cx="1592678" cy="2713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2678" cy="2713040"/>
            </a:xfrm>
            <a:custGeom>
              <a:avLst/>
              <a:gdLst/>
              <a:ahLst/>
              <a:cxnLst/>
              <a:rect r="r" b="b" t="t" l="l"/>
              <a:pathLst>
                <a:path h="2713040" w="1592678">
                  <a:moveTo>
                    <a:pt x="0" y="0"/>
                  </a:moveTo>
                  <a:lnTo>
                    <a:pt x="1592678" y="0"/>
                  </a:lnTo>
                  <a:lnTo>
                    <a:pt x="1592678" y="2713040"/>
                  </a:lnTo>
                  <a:lnTo>
                    <a:pt x="0" y="2713040"/>
                  </a:lnTo>
                  <a:close/>
                </a:path>
              </a:pathLst>
            </a:custGeom>
            <a:solidFill>
              <a:srgbClr val="D4D4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592678" cy="2674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945767" y="-14074"/>
            <a:ext cx="6029154" cy="10301074"/>
            <a:chOff x="0" y="0"/>
            <a:chExt cx="1587925" cy="271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7925" cy="2713040"/>
            </a:xfrm>
            <a:custGeom>
              <a:avLst/>
              <a:gdLst/>
              <a:ahLst/>
              <a:cxnLst/>
              <a:rect r="r" b="b" t="t" l="l"/>
              <a:pathLst>
                <a:path h="2713040" w="1587925">
                  <a:moveTo>
                    <a:pt x="0" y="0"/>
                  </a:moveTo>
                  <a:lnTo>
                    <a:pt x="1587925" y="0"/>
                  </a:lnTo>
                  <a:lnTo>
                    <a:pt x="1587925" y="2713040"/>
                  </a:lnTo>
                  <a:lnTo>
                    <a:pt x="0" y="2713040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1587925" cy="2674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40178" y="3297564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8" y="0"/>
                </a:lnTo>
                <a:lnTo>
                  <a:pt x="6520948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40792" y="638148"/>
            <a:ext cx="6657183" cy="3987491"/>
            <a:chOff x="0" y="0"/>
            <a:chExt cx="135698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56983" cy="812800"/>
            </a:xfrm>
            <a:custGeom>
              <a:avLst/>
              <a:gdLst/>
              <a:ahLst/>
              <a:cxnLst/>
              <a:rect r="r" b="b" t="t" l="l"/>
              <a:pathLst>
                <a:path h="812800" w="1356983">
                  <a:moveTo>
                    <a:pt x="0" y="0"/>
                  </a:moveTo>
                  <a:lnTo>
                    <a:pt x="1356983" y="0"/>
                  </a:lnTo>
                  <a:lnTo>
                    <a:pt x="135698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46901" t="0" r="-6799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flipV="true">
            <a:off x="677246" y="8964466"/>
            <a:ext cx="13323406" cy="0"/>
          </a:xfrm>
          <a:prstGeom prst="line">
            <a:avLst/>
          </a:prstGeom>
          <a:ln cap="flat" w="38100">
            <a:solidFill>
              <a:srgbClr val="112D4C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695178" y="6717360"/>
            <a:ext cx="489764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</a:t>
            </a:r>
            <a:r>
              <a:rPr lang="en-US" b="true" sz="2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 B </a:t>
            </a:r>
            <a:r>
              <a:rPr lang="en-US" b="true" sz="2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</a:t>
            </a:r>
            <a:r>
              <a:rPr lang="en-US" b="true" sz="2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everity Routing):</a:t>
            </a:r>
          </a:p>
          <a:p>
            <a:pPr algn="just" marL="0" indent="0" lvl="0">
              <a:lnSpc>
                <a:spcPts val="2879"/>
              </a:lnSpc>
            </a:pP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Rule-based Clinical Severity Mapping to triage priority levels (Low, Medium, High).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96149" y="6717360"/>
            <a:ext cx="489764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</a:t>
            </a:r>
            <a:r>
              <a:rPr lang="en-US" b="true" sz="2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 C (Explainability):</a:t>
            </a:r>
          </a:p>
          <a:p>
            <a:pPr algn="just" marL="0" indent="0" lvl="0">
              <a:lnSpc>
                <a:spcPts val="2879"/>
              </a:lnSpc>
            </a:pP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Extracti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text Evidence Spans for clinical auditability.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0246" y="6167185"/>
            <a:ext cx="853321" cy="3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95178" y="6167185"/>
            <a:ext cx="853321" cy="3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96149" y="6167185"/>
            <a:ext cx="853321" cy="352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0118" y="6348104"/>
            <a:ext cx="5734236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399" spc="-1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 </a:t>
            </a:r>
            <a:r>
              <a:rPr lang="en-US" sz="2399" spc="-1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(Core ML Benchmark):</a:t>
            </a:r>
          </a:p>
          <a:p>
            <a:pPr algn="l">
              <a:lnSpc>
                <a:spcPts val="2879"/>
              </a:lnSpc>
            </a:pPr>
            <a:r>
              <a:rPr lang="en-US" sz="2399" spc="-1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8-dimensional bina</a:t>
            </a:r>
            <a:r>
              <a:rPr lang="en-US" sz="2399" spc="-12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ry multi-label classification tracking complications: [infection, wound, bleeding, severe_pain, urinary, respiratory, leg_clot, routine_recovery].</a:t>
            </a:r>
          </a:p>
          <a:p>
            <a:pPr algn="l">
              <a:lnSpc>
                <a:spcPts val="287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7338949" y="1219200"/>
            <a:ext cx="11354568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MULTI-TASK FRAMEWORK &amp; MEDICAL GROUNDING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7246" y="9088291"/>
            <a:ext cx="17553275" cy="84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Medical Grounding: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Logic based on official NHS Post-Incision Discharge Guidelines (2024) and Mayo Clinic Postpartum Protocols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(e.g., Fever defined strictly as 38&lt;=  *C  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54653" y="548990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93793" y="638148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135443" y="6023080"/>
            <a:ext cx="9152557" cy="4263920"/>
            <a:chOff x="0" y="0"/>
            <a:chExt cx="2410550" cy="11230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0550" cy="1123008"/>
            </a:xfrm>
            <a:custGeom>
              <a:avLst/>
              <a:gdLst/>
              <a:ahLst/>
              <a:cxnLst/>
              <a:rect r="r" b="b" t="t" l="l"/>
              <a:pathLst>
                <a:path h="1123008" w="2410550">
                  <a:moveTo>
                    <a:pt x="0" y="0"/>
                  </a:moveTo>
                  <a:lnTo>
                    <a:pt x="2410550" y="0"/>
                  </a:lnTo>
                  <a:lnTo>
                    <a:pt x="2410550" y="1123008"/>
                  </a:lnTo>
                  <a:lnTo>
                    <a:pt x="0" y="1123008"/>
                  </a:lnTo>
                  <a:close/>
                </a:path>
              </a:pathLst>
            </a:custGeom>
            <a:solidFill>
              <a:srgbClr val="D4D4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2410550" cy="108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7114" y="6023080"/>
            <a:ext cx="9161114" cy="4263920"/>
            <a:chOff x="0" y="0"/>
            <a:chExt cx="2412804" cy="11230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2804" cy="1123008"/>
            </a:xfrm>
            <a:custGeom>
              <a:avLst/>
              <a:gdLst/>
              <a:ahLst/>
              <a:cxnLst/>
              <a:rect r="r" b="b" t="t" l="l"/>
              <a:pathLst>
                <a:path h="1123008" w="2412804">
                  <a:moveTo>
                    <a:pt x="0" y="0"/>
                  </a:moveTo>
                  <a:lnTo>
                    <a:pt x="2412804" y="0"/>
                  </a:lnTo>
                  <a:lnTo>
                    <a:pt x="2412804" y="1123008"/>
                  </a:lnTo>
                  <a:lnTo>
                    <a:pt x="0" y="112300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2412804" cy="1084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036334" y="3665235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-133190" y="6013555"/>
            <a:ext cx="18421190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886156" y="5880536"/>
            <a:ext cx="285087" cy="285087"/>
          </a:xfrm>
          <a:custGeom>
            <a:avLst/>
            <a:gdLst/>
            <a:ahLst/>
            <a:cxnLst/>
            <a:rect r="r" b="b" t="t" l="l"/>
            <a:pathLst>
              <a:path h="285087" w="285087">
                <a:moveTo>
                  <a:pt x="0" y="0"/>
                </a:moveTo>
                <a:lnTo>
                  <a:pt x="285088" y="0"/>
                </a:lnTo>
                <a:lnTo>
                  <a:pt x="285088" y="285087"/>
                </a:lnTo>
                <a:lnTo>
                  <a:pt x="0" y="285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143754" y="5871011"/>
            <a:ext cx="285087" cy="285087"/>
          </a:xfrm>
          <a:custGeom>
            <a:avLst/>
            <a:gdLst/>
            <a:ahLst/>
            <a:cxnLst/>
            <a:rect r="r" b="b" t="t" l="l"/>
            <a:pathLst>
              <a:path h="285087" w="285087">
                <a:moveTo>
                  <a:pt x="0" y="0"/>
                </a:moveTo>
                <a:lnTo>
                  <a:pt x="285088" y="0"/>
                </a:lnTo>
                <a:lnTo>
                  <a:pt x="285088" y="285087"/>
                </a:lnTo>
                <a:lnTo>
                  <a:pt x="0" y="285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810268" y="2507938"/>
            <a:ext cx="14667463" cy="3063434"/>
            <a:chOff x="0" y="0"/>
            <a:chExt cx="2272374" cy="4746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72374" cy="474606"/>
            </a:xfrm>
            <a:custGeom>
              <a:avLst/>
              <a:gdLst/>
              <a:ahLst/>
              <a:cxnLst/>
              <a:rect r="r" b="b" t="t" l="l"/>
              <a:pathLst>
                <a:path h="474606" w="2272374">
                  <a:moveTo>
                    <a:pt x="0" y="0"/>
                  </a:moveTo>
                  <a:lnTo>
                    <a:pt x="2272374" y="0"/>
                  </a:lnTo>
                  <a:lnTo>
                    <a:pt x="2272374" y="474606"/>
                  </a:lnTo>
                  <a:lnTo>
                    <a:pt x="0" y="474606"/>
                  </a:lnTo>
                  <a:close/>
                </a:path>
              </a:pathLst>
            </a:custGeom>
            <a:blipFill>
              <a:blip r:embed="rId6"/>
              <a:stretch>
                <a:fillRect l="-28008" t="0" r="36223" b="-71257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431488"/>
            <a:ext cx="11354568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CONTROLLED PRE-SAMPLING STRATEGY &amp; DATASET SPLIT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74198" y="6203312"/>
            <a:ext cx="6545060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</a:pPr>
            <a:r>
              <a:rPr lang="en-US" sz="2399" b="true">
                <a:solidFill>
                  <a:srgbClr val="18161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Splits (N=3,000):</a:t>
            </a:r>
          </a:p>
          <a:p>
            <a:pPr algn="just">
              <a:lnSpc>
                <a:spcPts val="2879"/>
              </a:lnSpc>
            </a:pPr>
          </a:p>
          <a:p>
            <a:pPr algn="just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81616"/>
                </a:solidFill>
                <a:latin typeface="Canva Sans"/>
                <a:ea typeface="Canva Sans"/>
                <a:cs typeface="Canva Sans"/>
                <a:sym typeface="Canva Sans"/>
              </a:rPr>
              <a:t>Train / Validation / Test A (Controlled): 50% Routine vs. 50% Symptoms to optimize Recall and balance class distribution.</a:t>
            </a:r>
          </a:p>
          <a:p>
            <a:pPr algn="just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181616"/>
                </a:solidFill>
                <a:latin typeface="Canva Sans"/>
                <a:ea typeface="Canva Sans"/>
                <a:cs typeface="Canva Sans"/>
                <a:sym typeface="Canva Sans"/>
              </a:rPr>
              <a:t>Test B (Realistic Clinical Stress Test): 80% Routine vs. 20% Symptom heavy, accurately simulating an actual live hospital deployment.</a:t>
            </a:r>
          </a:p>
          <a:p>
            <a:pPr algn="just" marL="0" indent="0" lvl="0">
              <a:lnSpc>
                <a:spcPts val="28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86156" y="6194198"/>
            <a:ext cx="6849469" cy="1122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1816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Pipeline: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181616"/>
                </a:solidFill>
                <a:latin typeface="Montserrat"/>
                <a:ea typeface="Montserrat"/>
                <a:cs typeface="Montserrat"/>
                <a:sym typeface="Montserrat"/>
              </a:rPr>
              <a:t> Moving from Label-to-Data (Controlled generation using a fixed meta-attribute dictionary).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6156" y="7936004"/>
            <a:ext cx="6962341" cy="139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18161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 Confounders Embedded: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181616"/>
                </a:solidFill>
                <a:latin typeface="Montserrat"/>
                <a:ea typeface="Montserrat"/>
                <a:cs typeface="Montserrat"/>
                <a:sym typeface="Montserrat"/>
              </a:rPr>
              <a:t>Speaker (Patient/Caregiver), Anxiety (Low/High), Medical Literacy (Low/High), Understatement (Low/High), Message Length (Short/Medium/Long).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54653" y="548990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93793" y="638148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036334" y="3665235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7" y="0"/>
                </a:lnTo>
                <a:lnTo>
                  <a:pt x="6520947" y="6820542"/>
                </a:lnTo>
                <a:lnTo>
                  <a:pt x="0" y="6820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8241" y="190500"/>
            <a:ext cx="6675176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PILOT PHASE EXECUTION &amp; ERROR ANALYSIS (THE KEY FINDING)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1766" y="3559737"/>
            <a:ext cx="5291021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b="true" sz="2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Pilot S</a:t>
            </a:r>
            <a:r>
              <a:rPr lang="en-US" b="true" sz="2399" strike="noStrike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etup: </a:t>
            </a:r>
          </a:p>
          <a:p>
            <a:pPr algn="ctr" marL="0" indent="0" lvl="0">
              <a:lnSpc>
                <a:spcPts val="2879"/>
              </a:lnSpc>
            </a:pP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Execu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 a manual vali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tion cycle using foundational models (gpt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-4o/Cl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aude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-3.5-So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nnet) based on ou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system prom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3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 blueprint.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944" y="5896934"/>
            <a:ext cx="6542065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Qualitative Success: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Models successfully adopted complex personas, capturing implicit warnings under high understatement conditions (e.g., caregiver minimizing a DVT sign).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78473" y="3774685"/>
            <a:ext cx="7521707" cy="3056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Structural Error Caught (The JSON Bug): </a:t>
            </a:r>
          </a:p>
          <a:p>
            <a:pPr algn="l" marL="474983" indent="-237491" lvl="1">
              <a:lnSpc>
                <a:spcPts val="220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Issue: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LLM hallucinated a static key "active_label_name" inside the evidence_spans block instead of rendering the dynamic label name requested.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</a:p>
          <a:p>
            <a:pPr algn="l" marL="474983" indent="-237491" lvl="1">
              <a:lnSpc>
                <a:spcPts val="22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Engineering Fix:</a:t>
            </a:r>
          </a:p>
          <a:p>
            <a:pPr algn="l">
              <a:lnSpc>
                <a:spcPts val="220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Implementation of an automated strict programmatic validation layer to reject and regenerate malformed JSON objects automatically during production.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54653" y="548990"/>
            <a:ext cx="367904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7593793" y="638148"/>
            <a:ext cx="228763" cy="0"/>
          </a:xfrm>
          <a:prstGeom prst="line">
            <a:avLst/>
          </a:prstGeom>
          <a:ln cap="rnd" w="38100">
            <a:solidFill>
              <a:srgbClr val="18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596690" y="3360918"/>
            <a:ext cx="18431402" cy="7252252"/>
            <a:chOff x="0" y="0"/>
            <a:chExt cx="4854361" cy="19100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54361" cy="1910058"/>
            </a:xfrm>
            <a:custGeom>
              <a:avLst/>
              <a:gdLst/>
              <a:ahLst/>
              <a:cxnLst/>
              <a:rect r="r" b="b" t="t" l="l"/>
              <a:pathLst>
                <a:path h="1910058" w="4854361">
                  <a:moveTo>
                    <a:pt x="0" y="0"/>
                  </a:moveTo>
                  <a:lnTo>
                    <a:pt x="4854361" y="0"/>
                  </a:lnTo>
                  <a:lnTo>
                    <a:pt x="4854361" y="1910058"/>
                  </a:lnTo>
                  <a:lnTo>
                    <a:pt x="0" y="191005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4854361" cy="1871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960958" y="4157518"/>
            <a:ext cx="6520947" cy="6820542"/>
          </a:xfrm>
          <a:custGeom>
            <a:avLst/>
            <a:gdLst/>
            <a:ahLst/>
            <a:cxnLst/>
            <a:rect r="r" b="b" t="t" l="l"/>
            <a:pathLst>
              <a:path h="6820542" w="6520947">
                <a:moveTo>
                  <a:pt x="0" y="0"/>
                </a:moveTo>
                <a:lnTo>
                  <a:pt x="6520948" y="0"/>
                </a:lnTo>
                <a:lnTo>
                  <a:pt x="6520948" y="6820541"/>
                </a:lnTo>
                <a:lnTo>
                  <a:pt x="0" y="6820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2622" y="6603497"/>
            <a:ext cx="3234357" cy="3424800"/>
            <a:chOff x="0" y="0"/>
            <a:chExt cx="1078449" cy="11419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8449" cy="1141949"/>
            </a:xfrm>
            <a:custGeom>
              <a:avLst/>
              <a:gdLst/>
              <a:ahLst/>
              <a:cxnLst/>
              <a:rect r="r" b="b" t="t" l="l"/>
              <a:pathLst>
                <a:path h="1141949" w="1078449">
                  <a:moveTo>
                    <a:pt x="0" y="0"/>
                  </a:moveTo>
                  <a:lnTo>
                    <a:pt x="1078449" y="0"/>
                  </a:lnTo>
                  <a:lnTo>
                    <a:pt x="1078449" y="1141949"/>
                  </a:lnTo>
                  <a:lnTo>
                    <a:pt x="0" y="1141949"/>
                  </a:lnTo>
                  <a:close/>
                </a:path>
              </a:pathLst>
            </a:custGeom>
            <a:blipFill>
              <a:blip r:embed="rId4"/>
              <a:stretch>
                <a:fillRect l="-29997" t="0" r="-2999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451" y="507951"/>
            <a:ext cx="9307591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>
                <a:solidFill>
                  <a:srgbClr val="181616"/>
                </a:solidFill>
                <a:latin typeface="Norwester"/>
                <a:ea typeface="Norwester"/>
                <a:cs typeface="Norwester"/>
                <a:sym typeface="Norwester"/>
              </a:rPr>
              <a:t>BENCHMARKING MATRIX &amp; NEXT STEPS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275489" y="2165301"/>
            <a:ext cx="3688154" cy="3238669"/>
            <a:chOff x="0" y="0"/>
            <a:chExt cx="1341504" cy="11780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1504" cy="1178011"/>
            </a:xfrm>
            <a:custGeom>
              <a:avLst/>
              <a:gdLst/>
              <a:ahLst/>
              <a:cxnLst/>
              <a:rect r="r" b="b" t="t" l="l"/>
              <a:pathLst>
                <a:path h="1178011" w="1341504">
                  <a:moveTo>
                    <a:pt x="0" y="0"/>
                  </a:moveTo>
                  <a:lnTo>
                    <a:pt x="1341504" y="0"/>
                  </a:lnTo>
                  <a:lnTo>
                    <a:pt x="1341504" y="1178011"/>
                  </a:lnTo>
                  <a:lnTo>
                    <a:pt x="0" y="1178011"/>
                  </a:lnTo>
                  <a:close/>
                </a:path>
              </a:pathLst>
            </a:custGeom>
            <a:blipFill>
              <a:blip r:embed="rId5"/>
              <a:stretch>
                <a:fillRect l="-16342" t="0" r="-1634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08750" y="3452614"/>
            <a:ext cx="10513181" cy="1951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2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Benchmarking Architectures (Side-by-Side):</a:t>
            </a:r>
          </a:p>
          <a:p>
            <a:pPr algn="l" marL="474983" indent="-237491" lvl="1">
              <a:lnSpc>
                <a:spcPts val="220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Heuristic Baseline: TF-IDF + Logistic Regression (Binary Relevance).</a:t>
            </a:r>
          </a:p>
          <a:p>
            <a:pPr algn="l" marL="474983" indent="-237491" lvl="1">
              <a:lnSpc>
                <a:spcPts val="220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Contextual General Encoder: RoBERTa-Base (Full fine-tuning).</a:t>
            </a:r>
          </a:p>
          <a:p>
            <a:pPr algn="l" marL="474983" indent="-237491" lvl="1">
              <a:lnSpc>
                <a:spcPts val="220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Domain-Specific Clinical Encoder: Bio_ClinicalBERT (MIMIC-III pre-trained).</a:t>
            </a:r>
          </a:p>
          <a:p>
            <a:pPr algn="l" marL="474983" indent="-237491" lvl="1">
              <a:lnSpc>
                <a:spcPts val="2200"/>
              </a:lnSpc>
              <a:buAutoNum type="arabicPeriod" startAt="1"/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Foundational Frontier LLMs: Zero-Shot/Few-Shot gpt-4o-mini and Llama-3-8B.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69518" y="5965924"/>
            <a:ext cx="8416389" cy="84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Experiment: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Style Ablation Study (Training with and without style diversity, followed by targeted sub-group stress testing).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49258" y="7374334"/>
            <a:ext cx="8073298" cy="84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b="true" sz="22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Immediate Milestones: </a:t>
            </a:r>
          </a:p>
          <a:p>
            <a:pPr algn="ctr">
              <a:lnSpc>
                <a:spcPts val="220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Automating the full data generation loop using bulk parsing scripts and executing Baseline training.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5F4F2">
                <a:alpha val="100000"/>
              </a:srgbClr>
            </a:gs>
            <a:gs pos="100000">
              <a:srgbClr val="E3F2F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DAHKA2czYEg</dc:identifier>
  <dcterms:modified xsi:type="dcterms:W3CDTF">2011-08-01T06:04:30Z</dcterms:modified>
  <cp:revision>1</cp:revision>
  <dc:title>presentation.pptx</dc:title>
</cp:coreProperties>
</file>